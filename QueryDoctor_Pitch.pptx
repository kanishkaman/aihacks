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7"/>
  </p:normalViewPr>
  <p:slideViewPr>
    <p:cSldViewPr snapToGrid="0" snapToObjects="1">
      <p:cViewPr varScale="1">
        <p:scale>
          <a:sx n="89" d="100"/>
          <a:sy n="89" d="100"/>
        </p:scale>
        <p:origin x="696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343203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 dirty="0">
                <a:solidFill>
                  <a:srgbClr val="8B5CF6"/>
                </a:solidFill>
                <a:latin typeface="Inter"/>
              </a:rPr>
              <a:t>AI HACK</a:t>
            </a:r>
            <a:r>
              <a:rPr lang="en-US" sz="1000" b="1" dirty="0">
                <a:solidFill>
                  <a:srgbClr val="8B5CF6"/>
                </a:solidFill>
                <a:latin typeface="Inter"/>
              </a:rPr>
              <a:t>ATHON FOR BUILDERS</a:t>
            </a:r>
            <a:r>
              <a:rPr sz="1000" b="1" dirty="0">
                <a:solidFill>
                  <a:srgbClr val="8B5CF6"/>
                </a:solidFill>
                <a:latin typeface="Inter"/>
              </a:rPr>
              <a:t> 2026  ·  PROBLEM STATEMENT 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400" b="1">
                <a:solidFill>
                  <a:srgbClr val="E6EDF3"/>
                </a:solidFill>
                <a:latin typeface="Inter"/>
              </a:rPr>
              <a:t>QueryDoctor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0">
                <a:solidFill>
                  <a:srgbClr val="94A3B8"/>
                </a:solidFill>
                <a:latin typeface="Inter"/>
              </a:rPr>
              <a:t>Paste a slow SQL query. Get a faster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1828800" cy="274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6EDF3"/>
                </a:solidFill>
                <a:latin typeface="Inter"/>
              </a:rPr>
              <a:t>Kanishk Aman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Team LoneWolf  ·  solo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219456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8B5CF6"/>
                </a:solidFill>
                <a:latin typeface="Inter"/>
              </a:rPr>
              <a:t>01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>
                <a:solidFill>
                  <a:srgbClr val="E6EDF3"/>
                </a:solidFill>
                <a:latin typeface="Inter"/>
              </a:rPr>
              <a:t>Slow queries are everywhere.</a:t>
            </a:r>
          </a:p>
          <a:p>
            <a:pPr algn="l"/>
            <a:r>
              <a:rPr sz="4400" b="1">
                <a:solidFill>
                  <a:srgbClr val="E6EDF3"/>
                </a:solidFill>
                <a:latin typeface="Inter"/>
              </a:rPr>
              <a:t>Nobody reads EXPLAIN plans.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407" y="3657600"/>
            <a:ext cx="3657600" cy="23774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8007" y="4023360"/>
            <a:ext cx="36576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167" y="397764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8B5CF6"/>
                </a:solidFill>
                <a:latin typeface="Inter"/>
              </a:rPr>
              <a:t>$$$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4526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6EDF3"/>
                </a:solidFill>
                <a:latin typeface="Inter"/>
              </a:rPr>
              <a:t>Wasted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50292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A single un-indexed query at production scale costs hundreds in cloud DB CPU every month.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047" y="3657600"/>
            <a:ext cx="3657600" cy="23774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95647" y="4023360"/>
            <a:ext cx="36576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2807" y="397764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8B5CF6"/>
                </a:solidFill>
                <a:latin typeface="Inter"/>
              </a:rPr>
              <a:t>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4526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6EDF3"/>
                </a:solidFill>
                <a:latin typeface="Inter"/>
              </a:rPr>
              <a:t>Latent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807" y="50292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Queries that pass review at 1k rows fall over at 1M. Most teams find out from a Slack alert.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4687" y="3657600"/>
            <a:ext cx="3657600" cy="23774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73287" y="4023360"/>
            <a:ext cx="36576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10447" y="397764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8B5CF6"/>
                </a:solidFill>
                <a:latin typeface="Inter"/>
              </a:rPr>
              <a:t>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0447" y="4526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6EDF3"/>
                </a:solidFill>
                <a:latin typeface="Inter"/>
              </a:rPr>
              <a:t>Expertise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0447" y="50292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DBAs are scarce. Junior engineers ship NOT IN anti-patterns and correlated subqueries by default.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19456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8B5CF6"/>
                </a:solidFill>
                <a:latin typeface="Inter"/>
              </a:rPr>
              <a:t>02  ·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Inter"/>
              </a:rPr>
              <a:t>Benchmark. Diagnose. Apply. Re-benchmark.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Every recommendation is verified against the real database.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No vibes, no hand-waving — just measured milliseconds.</a:t>
            </a:r>
          </a:p>
        </p:txBody>
      </p:sp>
      <p:pic>
        <p:nvPicPr>
          <p:cNvPr id="6" name="Picture 5" descr="Screenshot 2026-05-26 at 12.12.07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" y="2589748"/>
            <a:ext cx="7193585" cy="39939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24688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2606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Inter"/>
              </a:rPr>
              <a:t>DEMO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0632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Inter"/>
              </a:rPr>
              <a:t>Best-selling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3832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94A3B8"/>
                </a:solidFill>
                <a:latin typeface="Inter"/>
              </a:rPr>
              <a:t>aggregate over 260k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7947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0233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43F5E"/>
                </a:solidFill>
                <a:latin typeface="Inter"/>
              </a:rPr>
              <a:t>179.92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617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After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846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</a:rPr>
              <a:t>21.26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5486400"/>
            <a:ext cx="3108960" cy="182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Inter"/>
              </a:rPr>
              <a:t>8.5× 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0807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with one click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19456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8B5CF6"/>
                </a:solidFill>
                <a:latin typeface="Inter"/>
              </a:rPr>
              <a:t>03  ·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Inter"/>
              </a:rPr>
              <a:t>Grounded suggestions, not generic SQL tips.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791" y="1600200"/>
            <a:ext cx="1920240" cy="960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5791" y="1764792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Inter"/>
              </a:rPr>
              <a:t>Query +</a:t>
            </a:r>
          </a:p>
          <a:p>
            <a:pPr algn="ctr"/>
            <a:r>
              <a:rPr sz="1200" b="1">
                <a:solidFill>
                  <a:srgbClr val="E6EDF3"/>
                </a:solidFill>
                <a:latin typeface="Inter"/>
              </a:rPr>
              <a:t>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5759" y="1600200"/>
            <a:ext cx="1920240" cy="960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5759" y="1764792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Inter"/>
              </a:rPr>
              <a:t>EXPLAIN</a:t>
            </a:r>
          </a:p>
          <a:p>
            <a:pPr algn="ctr"/>
            <a:r>
              <a:rPr sz="1200" b="1">
                <a:solidFill>
                  <a:srgbClr val="E6EDF3"/>
                </a:solidFill>
                <a:latin typeface="Inter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5727" y="1600200"/>
            <a:ext cx="1920240" cy="960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35727" y="1764792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Inter"/>
              </a:rPr>
              <a:t>Gemini</a:t>
            </a:r>
          </a:p>
          <a:p>
            <a:pPr algn="ctr"/>
            <a:r>
              <a:rPr sz="1200" b="1">
                <a:solidFill>
                  <a:srgbClr val="E6EDF3"/>
                </a:solidFill>
                <a:latin typeface="Inter"/>
              </a:rPr>
              <a:t>2.5 Flash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5695" y="1600200"/>
            <a:ext cx="1920240" cy="960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65695" y="1764792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Inter"/>
              </a:rPr>
              <a:t>Diagnosis +</a:t>
            </a:r>
          </a:p>
          <a:p>
            <a:pPr algn="ctr"/>
            <a:r>
              <a:rPr sz="1200" b="1">
                <a:solidFill>
                  <a:srgbClr val="E6EDF3"/>
                </a:solidFill>
                <a:latin typeface="Inter"/>
              </a:rPr>
              <a:t>fix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95663" y="1600200"/>
            <a:ext cx="1920240" cy="960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95663" y="1764792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Inter"/>
              </a:rPr>
              <a:t>Apply &amp;</a:t>
            </a:r>
          </a:p>
          <a:p>
            <a:pPr algn="ctr"/>
            <a:r>
              <a:rPr sz="1200" b="1">
                <a:solidFill>
                  <a:srgbClr val="E6EDF3"/>
                </a:solidFill>
                <a:latin typeface="Inter"/>
              </a:rPr>
              <a:t>re-benchmark</a:t>
            </a:r>
          </a:p>
        </p:txBody>
      </p:sp>
      <p:pic>
        <p:nvPicPr>
          <p:cNvPr id="15" name="Picture 14" descr="Screenshot 2026-05-26 at 12.11.37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1" y="2639999"/>
            <a:ext cx="7315200" cy="40811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46720" y="278892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Inter"/>
              </a:rPr>
              <a:t>Why this is different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337560"/>
            <a:ext cx="36576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3291840"/>
            <a:ext cx="3566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Inter"/>
              </a:rPr>
              <a:t>Schema-aware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584448"/>
            <a:ext cx="356615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Gemini sees actual tables, existing indexes, and row counts — recommendations fit your database, not a textbook.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160520"/>
            <a:ext cx="36576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4114800"/>
            <a:ext cx="3566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Inter"/>
              </a:rPr>
              <a:t>Plan-grounded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407408"/>
            <a:ext cx="356615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Suggestions are checked against the EXPLAIN plan: a fix is only proposed if it converts SCAN → SEARCH.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4983480"/>
            <a:ext cx="36576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4937760"/>
            <a:ext cx="3566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Inter"/>
              </a:rPr>
              <a:t>Anti-pattern 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5230368"/>
            <a:ext cx="356615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Catches NOT IN, correlated subqueries, and missing covering indexes. Rewrites SQL, not just adds indexes.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5806440"/>
            <a:ext cx="36576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80" y="5760720"/>
            <a:ext cx="3566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Inter"/>
              </a:rPr>
              <a:t>Verified, not guessed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6053328"/>
            <a:ext cx="356615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Every fix is applied and re-run on the live database. The speedup number is measured, not promised.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19456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8B5CF6"/>
                </a:solidFill>
                <a:latin typeface="Inter"/>
              </a:rPr>
              <a:t>04  ·  IMPACT  &amp; 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Inter"/>
              </a:rPr>
              <a:t>One click. Real dollars.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182880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3767" y="21488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43F5E"/>
                </a:solidFill>
                <a:latin typeface="Inter"/>
              </a:rPr>
              <a:t>158.66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767" y="3063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Inter"/>
              </a:rPr>
              <a:t>saved per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182880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49927" y="21488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8B5CF6"/>
                </a:solidFill>
                <a:latin typeface="Inter"/>
              </a:rPr>
              <a:t>380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9927" y="3063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Inter"/>
              </a:rPr>
              <a:t>DB-CPU saved /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6087" y="182880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6087" y="21488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10B981"/>
                </a:solidFill>
                <a:latin typeface="Inter"/>
              </a:rPr>
              <a:t>$38.08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6087" y="3063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Inter"/>
              </a:rPr>
              <a:t>monthly cost saving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dirty="0">
                <a:solidFill>
                  <a:srgbClr val="94A3B8"/>
                </a:solidFill>
                <a:latin typeface="Inter"/>
              </a:rPr>
              <a:t>Modeled at 100 req/min on a single query. Multiply across a real codebase.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Inter"/>
              </a:rPr>
              <a:t>BUILT WITH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Inter"/>
              </a:rPr>
              <a:t>Python  ·  Streamlit  ·  SQLite  ·  Plotly  ·  Google Gemini 2.5 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Inter"/>
              </a:rPr>
              <a:t>WHAT'S 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Inter"/>
              </a:rPr>
              <a:t>Postgres + EXPLAIN ANALYZE  ·  Pre-commit SQL lint  ·  Fix history across the codebase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 err="1">
                <a:solidFill>
                  <a:srgbClr val="94A3B8"/>
                </a:solidFill>
                <a:latin typeface="Inter"/>
              </a:rPr>
              <a:t>Kanishk</a:t>
            </a:r>
            <a:r>
              <a:rPr sz="1100" b="0" dirty="0">
                <a:solidFill>
                  <a:srgbClr val="94A3B8"/>
                </a:solidFill>
                <a:latin typeface="Inter"/>
              </a:rPr>
              <a:t> Aman  ·  Team </a:t>
            </a:r>
            <a:r>
              <a:rPr sz="1100" b="0" dirty="0" err="1">
                <a:solidFill>
                  <a:srgbClr val="94A3B8"/>
                </a:solidFill>
                <a:latin typeface="Inter"/>
              </a:rPr>
              <a:t>LoneWolf</a:t>
            </a:r>
            <a:r>
              <a:rPr sz="1100" b="0" dirty="0">
                <a:solidFill>
                  <a:srgbClr val="94A3B8"/>
                </a:solidFill>
                <a:latin typeface="Inter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8B5CF6"/>
                </a:solidFill>
                <a:latin typeface="Inter"/>
              </a:rPr>
              <a:t>QueryDoctor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359</Words>
  <Application>Microsoft Macintosh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Kanishk Aman</cp:lastModifiedBy>
  <cp:revision>2</cp:revision>
  <dcterms:created xsi:type="dcterms:W3CDTF">2013-01-27T09:14:16Z</dcterms:created>
  <dcterms:modified xsi:type="dcterms:W3CDTF">2026-05-25T18:56:51Z</dcterms:modified>
  <cp:category/>
</cp:coreProperties>
</file>